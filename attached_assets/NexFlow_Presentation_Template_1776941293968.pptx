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943600" cy="5943600"/>
          </a:xfrm>
          <a:prstGeom prst="ellipse">
            <a:avLst/>
          </a:prstGeom>
          <a:solidFill>
            <a:srgbClr val="B8A0C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5486400" cy="5486400"/>
          </a:xfrm>
          <a:prstGeom prst="ellipse">
            <a:avLst/>
          </a:prstGeom>
          <a:solidFill>
            <a:srgbClr val="88B8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572000"/>
            <a:ext cx="5943600" cy="5943600"/>
          </a:xfrm>
          <a:prstGeom prst="ellipse">
            <a:avLst/>
          </a:prstGeom>
          <a:solidFill>
            <a:srgbClr val="C8A880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4114800"/>
            <a:ext cx="5943600" cy="5943600"/>
          </a:xfrm>
          <a:prstGeom prst="ellipse">
            <a:avLst/>
          </a:prstGeom>
          <a:solidFill>
            <a:srgbClr val="90B8B8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57600" y="1828800"/>
            <a:ext cx="4572000" cy="4572000"/>
          </a:xfrm>
          <a:prstGeom prst="ellipse">
            <a:avLst/>
          </a:prstGeom>
          <a:solidFill>
            <a:srgbClr val="B8B880">
              <a:alpha val="1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</p:sp>
      <p:pic>
        <p:nvPicPr>
          <p:cNvPr id="8" name="Image 0" descr="/home/claude/nexflow_portal/assets/logo_mark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71600"/>
            <a:ext cx="1371600" cy="1371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0" y="292608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-100" kern="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NexFlow</a:t>
            </a:r>
            <a:endParaRPr lang="en-US" sz="7200" dirty="0"/>
          </a:p>
        </p:txBody>
      </p:sp>
      <p:sp>
        <p:nvSpPr>
          <p:cNvPr id="10" name="Text 7"/>
          <p:cNvSpPr/>
          <p:nvPr/>
        </p:nvSpPr>
        <p:spPr>
          <a:xfrm>
            <a:off x="0" y="39319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9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ORCHESTRATING SUPREME MARKET CLARITY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828800" y="48463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PRESENTATION TITLE ]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828800" y="5440680"/>
            <a:ext cx="8534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A8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Subtitle or date ]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0" y="6720840"/>
            <a:ext cx="2031949" cy="137160"/>
          </a:xfrm>
          <a:prstGeom prst="rect">
            <a:avLst/>
          </a:prstGeom>
          <a:solidFill>
            <a:srgbClr val="B8A0C8">
              <a:alpha val="85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2031949" y="6720840"/>
            <a:ext cx="2031949" cy="137160"/>
          </a:xfrm>
          <a:prstGeom prst="rect">
            <a:avLst/>
          </a:prstGeom>
          <a:solidFill>
            <a:srgbClr val="C0A0B8">
              <a:alpha val="85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063898" y="6720840"/>
            <a:ext cx="2031949" cy="137160"/>
          </a:xfrm>
          <a:prstGeom prst="rect">
            <a:avLst/>
          </a:prstGeom>
          <a:solidFill>
            <a:srgbClr val="88B8B0">
              <a:alpha val="85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6095848" y="6720840"/>
            <a:ext cx="2031949" cy="137160"/>
          </a:xfrm>
          <a:prstGeom prst="rect">
            <a:avLst/>
          </a:prstGeom>
          <a:solidFill>
            <a:srgbClr val="90B8B8">
              <a:alpha val="85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8127797" y="6720840"/>
            <a:ext cx="2031949" cy="137160"/>
          </a:xfrm>
          <a:prstGeom prst="rect">
            <a:avLst/>
          </a:prstGeom>
          <a:solidFill>
            <a:srgbClr val="B8B880">
              <a:alpha val="85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10159746" y="6720840"/>
            <a:ext cx="2031949" cy="137160"/>
          </a:xfrm>
          <a:prstGeom prst="rect">
            <a:avLst/>
          </a:prstGeom>
          <a:solidFill>
            <a:srgbClr val="C8A880">
              <a:alpha val="8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943600" cy="5943600"/>
          </a:xfrm>
          <a:prstGeom prst="ellipse">
            <a:avLst/>
          </a:prstGeom>
          <a:solidFill>
            <a:srgbClr val="B8A0C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5486400" cy="5486400"/>
          </a:xfrm>
          <a:prstGeom prst="ellipse">
            <a:avLst/>
          </a:prstGeom>
          <a:solidFill>
            <a:srgbClr val="88B8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572000"/>
            <a:ext cx="5943600" cy="5943600"/>
          </a:xfrm>
          <a:prstGeom prst="ellipse">
            <a:avLst/>
          </a:prstGeom>
          <a:solidFill>
            <a:srgbClr val="C8A880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4114800"/>
            <a:ext cx="5943600" cy="5943600"/>
          </a:xfrm>
          <a:prstGeom prst="ellipse">
            <a:avLst/>
          </a:prstGeom>
          <a:solidFill>
            <a:srgbClr val="90B8B8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57600" y="1828800"/>
            <a:ext cx="4572000" cy="4572000"/>
          </a:xfrm>
          <a:prstGeom prst="ellipse">
            <a:avLst/>
          </a:prstGeom>
          <a:solidFill>
            <a:srgbClr val="B8B880">
              <a:alpha val="1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6720840"/>
            <a:ext cx="2031949" cy="54864"/>
          </a:xfrm>
          <a:prstGeom prst="rect">
            <a:avLst/>
          </a:prstGeom>
          <a:solidFill>
            <a:srgbClr val="B8A0C8">
              <a:alpha val="8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031949" y="6720840"/>
            <a:ext cx="2031949" cy="54864"/>
          </a:xfrm>
          <a:prstGeom prst="rect">
            <a:avLst/>
          </a:prstGeom>
          <a:solidFill>
            <a:srgbClr val="C0A0B8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063898" y="6720840"/>
            <a:ext cx="2031949" cy="54864"/>
          </a:xfrm>
          <a:prstGeom prst="rect">
            <a:avLst/>
          </a:prstGeom>
          <a:solidFill>
            <a:srgbClr val="88B8B0">
              <a:alpha val="8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095848" y="6720840"/>
            <a:ext cx="2031949" cy="54864"/>
          </a:xfrm>
          <a:prstGeom prst="rect">
            <a:avLst/>
          </a:prstGeom>
          <a:solidFill>
            <a:srgbClr val="90B8B8">
              <a:alpha val="8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127797" y="6720840"/>
            <a:ext cx="2031949" cy="54864"/>
          </a:xfrm>
          <a:prstGeom prst="rect">
            <a:avLst/>
          </a:prstGeom>
          <a:solidFill>
            <a:srgbClr val="B8B880">
              <a:alpha val="8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159746" y="6720840"/>
            <a:ext cx="2031949" cy="54864"/>
          </a:xfrm>
          <a:prstGeom prst="rect">
            <a:avLst/>
          </a:prstGeom>
          <a:solidFill>
            <a:srgbClr val="C8A880">
              <a:alpha val="80000"/>
            </a:srgbClr>
          </a:solidFill>
          <a:ln/>
        </p:spPr>
      </p:sp>
      <p:pic>
        <p:nvPicPr>
          <p:cNvPr id="14" name="Image 0" descr="/home/claude/nexflow_portal/assets/logo_mark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473952"/>
            <a:ext cx="228600" cy="2286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4008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NexFlow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4000" dirty="0"/>
          </a:p>
        </p:txBody>
      </p:sp>
      <p:sp>
        <p:nvSpPr>
          <p:cNvPr id="18" name="Text 15"/>
          <p:cNvSpPr/>
          <p:nvPr/>
        </p:nvSpPr>
        <p:spPr>
          <a:xfrm>
            <a:off x="640080" y="14630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000" dirty="0"/>
          </a:p>
        </p:txBody>
      </p:sp>
      <p:sp>
        <p:nvSpPr>
          <p:cNvPr id="19" name="Text 16"/>
          <p:cNvSpPr/>
          <p:nvPr/>
        </p:nvSpPr>
        <p:spPr>
          <a:xfrm>
            <a:off x="1828800" y="1508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Opportunity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8288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Saudi HNW landscape in 2026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0080" y="23774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000" dirty="0"/>
          </a:p>
        </p:txBody>
      </p:sp>
      <p:sp>
        <p:nvSpPr>
          <p:cNvPr id="22" name="Text 19"/>
          <p:cNvSpPr/>
          <p:nvPr/>
        </p:nvSpPr>
        <p:spPr>
          <a:xfrm>
            <a:off x="1828800" y="2423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NexFlow Approach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82880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orchestrate clarity end-to-end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40080" y="32918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8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000" dirty="0"/>
          </a:p>
        </p:txBody>
      </p:sp>
      <p:sp>
        <p:nvSpPr>
          <p:cNvPr id="25" name="Text 22"/>
          <p:cNvSpPr/>
          <p:nvPr/>
        </p:nvSpPr>
        <p:spPr>
          <a:xfrm>
            <a:off x="1828800" y="3337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Capabilities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18288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modules, data sources, integrations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40080" y="42062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000" dirty="0"/>
          </a:p>
        </p:txBody>
      </p:sp>
      <p:sp>
        <p:nvSpPr>
          <p:cNvPr id="28" name="Text 25"/>
          <p:cNvSpPr/>
          <p:nvPr/>
        </p:nvSpPr>
        <p:spPr>
          <a:xfrm>
            <a:off x="1828800" y="4251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18288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onboarded, AUM reached, outcomes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40080" y="51206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B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4000" dirty="0"/>
          </a:p>
        </p:txBody>
      </p:sp>
      <p:sp>
        <p:nvSpPr>
          <p:cNvPr id="31" name="Text 28"/>
          <p:cNvSpPr/>
          <p:nvPr/>
        </p:nvSpPr>
        <p:spPr>
          <a:xfrm>
            <a:off x="1828800" y="5166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1828800" y="5577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structure and timeline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943600" cy="5943600"/>
          </a:xfrm>
          <a:prstGeom prst="ellipse">
            <a:avLst/>
          </a:prstGeom>
          <a:solidFill>
            <a:srgbClr val="B8A0C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5486400" cy="5486400"/>
          </a:xfrm>
          <a:prstGeom prst="ellipse">
            <a:avLst/>
          </a:prstGeom>
          <a:solidFill>
            <a:srgbClr val="88B8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572000"/>
            <a:ext cx="5943600" cy="5943600"/>
          </a:xfrm>
          <a:prstGeom prst="ellipse">
            <a:avLst/>
          </a:prstGeom>
          <a:solidFill>
            <a:srgbClr val="C8A880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4114800"/>
            <a:ext cx="5943600" cy="5943600"/>
          </a:xfrm>
          <a:prstGeom prst="ellipse">
            <a:avLst/>
          </a:prstGeom>
          <a:solidFill>
            <a:srgbClr val="90B8B8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57600" y="1828800"/>
            <a:ext cx="4572000" cy="4572000"/>
          </a:xfrm>
          <a:prstGeom prst="ellipse">
            <a:avLst/>
          </a:prstGeom>
          <a:solidFill>
            <a:srgbClr val="B8B880">
              <a:alpha val="1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860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0" dirty="0"/>
          </a:p>
        </p:txBody>
      </p:sp>
      <p:sp>
        <p:nvSpPr>
          <p:cNvPr id="9" name="Shape 7"/>
          <p:cNvSpPr/>
          <p:nvPr/>
        </p:nvSpPr>
        <p:spPr>
          <a:xfrm>
            <a:off x="3931920" y="2743200"/>
            <a:ext cx="0" cy="1371600"/>
          </a:xfrm>
          <a:prstGeom prst="line">
            <a:avLst/>
          </a:prstGeom>
          <a:noFill/>
          <a:ln w="12700">
            <a:solidFill>
              <a:srgbClr val="90B8B8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9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OPPORTUNITY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06240" y="31089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Saudi HNW Landscape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206240" y="3931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8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conditions, wealth migration patterns, and the white space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9A8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we’re built to capture.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6720840"/>
            <a:ext cx="2031949" cy="137160"/>
          </a:xfrm>
          <a:prstGeom prst="rect">
            <a:avLst/>
          </a:prstGeom>
          <a:solidFill>
            <a:srgbClr val="B8A0C8">
              <a:alpha val="8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031949" y="6720840"/>
            <a:ext cx="2031949" cy="137160"/>
          </a:xfrm>
          <a:prstGeom prst="rect">
            <a:avLst/>
          </a:prstGeom>
          <a:solidFill>
            <a:srgbClr val="C0A0B8">
              <a:alpha val="8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063898" y="6720840"/>
            <a:ext cx="2031949" cy="137160"/>
          </a:xfrm>
          <a:prstGeom prst="rect">
            <a:avLst/>
          </a:prstGeom>
          <a:solidFill>
            <a:srgbClr val="88B8B0">
              <a:alpha val="8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095848" y="6720840"/>
            <a:ext cx="2031949" cy="137160"/>
          </a:xfrm>
          <a:prstGeom prst="rect">
            <a:avLst/>
          </a:prstGeom>
          <a:solidFill>
            <a:srgbClr val="90B8B8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127797" y="6720840"/>
            <a:ext cx="2031949" cy="137160"/>
          </a:xfrm>
          <a:prstGeom prst="rect">
            <a:avLst/>
          </a:prstGeom>
          <a:solidFill>
            <a:srgbClr val="B8B880">
              <a:alpha val="8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159746" y="6720840"/>
            <a:ext cx="2031949" cy="137160"/>
          </a:xfrm>
          <a:prstGeom prst="rect">
            <a:avLst/>
          </a:prstGeom>
          <a:solidFill>
            <a:srgbClr val="C8A880">
              <a:alpha val="85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943600" cy="5943600"/>
          </a:xfrm>
          <a:prstGeom prst="ellipse">
            <a:avLst/>
          </a:prstGeom>
          <a:solidFill>
            <a:srgbClr val="B8A0C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5486400" cy="5486400"/>
          </a:xfrm>
          <a:prstGeom prst="ellipse">
            <a:avLst/>
          </a:prstGeom>
          <a:solidFill>
            <a:srgbClr val="88B8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572000"/>
            <a:ext cx="5943600" cy="5943600"/>
          </a:xfrm>
          <a:prstGeom prst="ellipse">
            <a:avLst/>
          </a:prstGeom>
          <a:solidFill>
            <a:srgbClr val="C8A880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4114800"/>
            <a:ext cx="5943600" cy="5943600"/>
          </a:xfrm>
          <a:prstGeom prst="ellipse">
            <a:avLst/>
          </a:prstGeom>
          <a:solidFill>
            <a:srgbClr val="90B8B8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57600" y="1828800"/>
            <a:ext cx="4572000" cy="4572000"/>
          </a:xfrm>
          <a:prstGeom prst="ellipse">
            <a:avLst/>
          </a:prstGeom>
          <a:solidFill>
            <a:srgbClr val="B8B880">
              <a:alpha val="1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6720840"/>
            <a:ext cx="2031949" cy="54864"/>
          </a:xfrm>
          <a:prstGeom prst="rect">
            <a:avLst/>
          </a:prstGeom>
          <a:solidFill>
            <a:srgbClr val="B8A0C8">
              <a:alpha val="8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031949" y="6720840"/>
            <a:ext cx="2031949" cy="54864"/>
          </a:xfrm>
          <a:prstGeom prst="rect">
            <a:avLst/>
          </a:prstGeom>
          <a:solidFill>
            <a:srgbClr val="C0A0B8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063898" y="6720840"/>
            <a:ext cx="2031949" cy="54864"/>
          </a:xfrm>
          <a:prstGeom prst="rect">
            <a:avLst/>
          </a:prstGeom>
          <a:solidFill>
            <a:srgbClr val="88B8B0">
              <a:alpha val="8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095848" y="6720840"/>
            <a:ext cx="2031949" cy="54864"/>
          </a:xfrm>
          <a:prstGeom prst="rect">
            <a:avLst/>
          </a:prstGeom>
          <a:solidFill>
            <a:srgbClr val="90B8B8">
              <a:alpha val="8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127797" y="6720840"/>
            <a:ext cx="2031949" cy="54864"/>
          </a:xfrm>
          <a:prstGeom prst="rect">
            <a:avLst/>
          </a:prstGeom>
          <a:solidFill>
            <a:srgbClr val="B8B880">
              <a:alpha val="8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159746" y="6720840"/>
            <a:ext cx="2031949" cy="54864"/>
          </a:xfrm>
          <a:prstGeom prst="rect">
            <a:avLst/>
          </a:prstGeom>
          <a:solidFill>
            <a:srgbClr val="C8A880">
              <a:alpha val="80000"/>
            </a:srgbClr>
          </a:solidFill>
          <a:ln/>
        </p:spPr>
      </p:sp>
      <p:pic>
        <p:nvPicPr>
          <p:cNvPr id="14" name="Image 0" descr="/home/claude/nexflow_portal/assets/logo_mark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473952"/>
            <a:ext cx="228600" cy="2286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4008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NexFlow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NexFlow Different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8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capabilities no other HNW platform in the region combines.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40080" y="1828800"/>
            <a:ext cx="3657600" cy="4114800"/>
          </a:xfrm>
          <a:prstGeom prst="roundRect">
            <a:avLst>
              <a:gd name="adj" fmla="val 3750"/>
            </a:avLst>
          </a:prstGeom>
          <a:solidFill>
            <a:srgbClr val="FFFFFF">
              <a:alpha val="65000"/>
            </a:srgbClr>
          </a:solidFill>
          <a:ln w="19050">
            <a:solidFill>
              <a:srgbClr val="B8A0C8">
                <a:alpha val="70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22960" y="2057400"/>
            <a:ext cx="457200" cy="73152"/>
          </a:xfrm>
          <a:prstGeom prst="roundRect">
            <a:avLst>
              <a:gd name="adj" fmla="val 50000"/>
            </a:avLst>
          </a:prstGeom>
          <a:solidFill>
            <a:srgbClr val="B8A0C8"/>
          </a:solidFill>
          <a:ln/>
        </p:spPr>
      </p:sp>
      <p:sp>
        <p:nvSpPr>
          <p:cNvPr id="21" name="Text 18"/>
          <p:cNvSpPr/>
          <p:nvPr/>
        </p:nvSpPr>
        <p:spPr>
          <a:xfrm>
            <a:off x="914400" y="22860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Intelligence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14400" y="301752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monitoring of TASI, NOMU, CMA announcements, executive transactions, and board changes — translating market signals into prospect triggers.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544568" y="1828800"/>
            <a:ext cx="3657600" cy="4114800"/>
          </a:xfrm>
          <a:prstGeom prst="roundRect">
            <a:avLst>
              <a:gd name="adj" fmla="val 3750"/>
            </a:avLst>
          </a:prstGeom>
          <a:solidFill>
            <a:srgbClr val="FFFFFF">
              <a:alpha val="65000"/>
            </a:srgbClr>
          </a:solidFill>
          <a:ln w="19050">
            <a:solidFill>
              <a:srgbClr val="88B8B0">
                <a:alpha val="70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727448" y="2057400"/>
            <a:ext cx="457200" cy="73152"/>
          </a:xfrm>
          <a:prstGeom prst="roundRect">
            <a:avLst>
              <a:gd name="adj" fmla="val 50000"/>
            </a:avLst>
          </a:prstGeom>
          <a:solidFill>
            <a:srgbClr val="88B8B0"/>
          </a:solidFill>
          <a:ln/>
        </p:spPr>
      </p:sp>
      <p:sp>
        <p:nvSpPr>
          <p:cNvPr id="25" name="Text 22"/>
          <p:cNvSpPr/>
          <p:nvPr/>
        </p:nvSpPr>
        <p:spPr>
          <a:xfrm>
            <a:off x="4818888" y="22860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Prospecting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4818888" y="301752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Twenty+ Saudi data sources, wealth estimation with confidence levels, family-tree exclusions, and bilingual Arabic/English coverage.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8449056" y="1828800"/>
            <a:ext cx="3657600" cy="4114800"/>
          </a:xfrm>
          <a:prstGeom prst="roundRect">
            <a:avLst>
              <a:gd name="adj" fmla="val 3750"/>
            </a:avLst>
          </a:prstGeom>
          <a:solidFill>
            <a:srgbClr val="FFFFFF">
              <a:alpha val="65000"/>
            </a:srgbClr>
          </a:solidFill>
          <a:ln w="19050">
            <a:solidFill>
              <a:srgbClr val="C8A880">
                <a:alpha val="7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631936" y="2057400"/>
            <a:ext cx="457200" cy="73152"/>
          </a:xfrm>
          <a:prstGeom prst="roundRect">
            <a:avLst>
              <a:gd name="adj" fmla="val 50000"/>
            </a:avLst>
          </a:prstGeom>
          <a:solidFill>
            <a:srgbClr val="C8A880"/>
          </a:solidFill>
          <a:ln/>
        </p:spPr>
      </p:sp>
      <p:sp>
        <p:nvSpPr>
          <p:cNvPr id="29" name="Text 26"/>
          <p:cNvSpPr/>
          <p:nvPr/>
        </p:nvSpPr>
        <p:spPr>
          <a:xfrm>
            <a:off x="8723376" y="22860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Orchestration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8723376" y="301752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KYC, CR verification, and screening against SAMA, SIMAH, OFAC, UN, and EU sanctions — with audit-ready evidence for every contact.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943600" cy="5943600"/>
          </a:xfrm>
          <a:prstGeom prst="ellipse">
            <a:avLst/>
          </a:prstGeom>
          <a:solidFill>
            <a:srgbClr val="B8A0C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5486400" cy="5486400"/>
          </a:xfrm>
          <a:prstGeom prst="ellipse">
            <a:avLst/>
          </a:prstGeom>
          <a:solidFill>
            <a:srgbClr val="88B8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572000"/>
            <a:ext cx="5943600" cy="5943600"/>
          </a:xfrm>
          <a:prstGeom prst="ellipse">
            <a:avLst/>
          </a:prstGeom>
          <a:solidFill>
            <a:srgbClr val="C8A880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4114800"/>
            <a:ext cx="5943600" cy="5943600"/>
          </a:xfrm>
          <a:prstGeom prst="ellipse">
            <a:avLst/>
          </a:prstGeom>
          <a:solidFill>
            <a:srgbClr val="90B8B8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57600" y="1828800"/>
            <a:ext cx="4572000" cy="4572000"/>
          </a:xfrm>
          <a:prstGeom prst="ellipse">
            <a:avLst/>
          </a:prstGeom>
          <a:solidFill>
            <a:srgbClr val="B8B880">
              <a:alpha val="1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6720840"/>
            <a:ext cx="2031949" cy="54864"/>
          </a:xfrm>
          <a:prstGeom prst="rect">
            <a:avLst/>
          </a:prstGeom>
          <a:solidFill>
            <a:srgbClr val="B8A0C8">
              <a:alpha val="8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031949" y="6720840"/>
            <a:ext cx="2031949" cy="54864"/>
          </a:xfrm>
          <a:prstGeom prst="rect">
            <a:avLst/>
          </a:prstGeom>
          <a:solidFill>
            <a:srgbClr val="C0A0B8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063898" y="6720840"/>
            <a:ext cx="2031949" cy="54864"/>
          </a:xfrm>
          <a:prstGeom prst="rect">
            <a:avLst/>
          </a:prstGeom>
          <a:solidFill>
            <a:srgbClr val="88B8B0">
              <a:alpha val="8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095848" y="6720840"/>
            <a:ext cx="2031949" cy="54864"/>
          </a:xfrm>
          <a:prstGeom prst="rect">
            <a:avLst/>
          </a:prstGeom>
          <a:solidFill>
            <a:srgbClr val="90B8B8">
              <a:alpha val="8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127797" y="6720840"/>
            <a:ext cx="2031949" cy="54864"/>
          </a:xfrm>
          <a:prstGeom prst="rect">
            <a:avLst/>
          </a:prstGeom>
          <a:solidFill>
            <a:srgbClr val="B8B880">
              <a:alpha val="8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159746" y="6720840"/>
            <a:ext cx="2031949" cy="54864"/>
          </a:xfrm>
          <a:prstGeom prst="rect">
            <a:avLst/>
          </a:prstGeom>
          <a:solidFill>
            <a:srgbClr val="C8A880">
              <a:alpha val="80000"/>
            </a:srgbClr>
          </a:solidFill>
          <a:ln/>
        </p:spPr>
      </p:sp>
      <p:pic>
        <p:nvPicPr>
          <p:cNvPr id="14" name="Image 0" descr="/home/claude/nexflow_portal/assets/logo_mark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473952"/>
            <a:ext cx="228600" cy="2286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4008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NexFlow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8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real Saudi market coverage, not estimates.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40080" y="210312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395</a:t>
            </a:r>
            <a:endParaRPr lang="en-US" sz="9600" dirty="0"/>
          </a:p>
        </p:txBody>
      </p:sp>
      <p:sp>
        <p:nvSpPr>
          <p:cNvPr id="20" name="Text 17"/>
          <p:cNvSpPr/>
          <p:nvPr/>
        </p:nvSpPr>
        <p:spPr>
          <a:xfrm>
            <a:off x="640080" y="3840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rgbClr val="9A8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0080" y="42519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TASI + NOMU coverage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538728" y="210312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88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268</a:t>
            </a:r>
            <a:endParaRPr lang="en-US" sz="9600" dirty="0"/>
          </a:p>
        </p:txBody>
      </p:sp>
      <p:sp>
        <p:nvSpPr>
          <p:cNvPr id="23" name="Text 20"/>
          <p:cNvSpPr/>
          <p:nvPr/>
        </p:nvSpPr>
        <p:spPr>
          <a:xfrm>
            <a:off x="3538728" y="3840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rgbClr val="9A8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TASI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538728" y="42519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market companies indexed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437376" y="210312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C8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9600" dirty="0"/>
          </a:p>
        </p:txBody>
      </p:sp>
      <p:sp>
        <p:nvSpPr>
          <p:cNvPr id="26" name="Text 23"/>
          <p:cNvSpPr/>
          <p:nvPr/>
        </p:nvSpPr>
        <p:spPr>
          <a:xfrm>
            <a:off x="6437376" y="3840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rgbClr val="9A8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437376" y="42519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data sources integrated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9336024" y="210312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9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5M+</a:t>
            </a:r>
            <a:endParaRPr lang="en-US" sz="9600" dirty="0"/>
          </a:p>
        </p:txBody>
      </p:sp>
      <p:sp>
        <p:nvSpPr>
          <p:cNvPr id="29" name="Text 26"/>
          <p:cNvSpPr/>
          <p:nvPr/>
        </p:nvSpPr>
        <p:spPr>
          <a:xfrm>
            <a:off x="9336024" y="3840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rgbClr val="9A8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9336024" y="42519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HNW threshold targeted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943600" cy="5943600"/>
          </a:xfrm>
          <a:prstGeom prst="ellipse">
            <a:avLst/>
          </a:prstGeom>
          <a:solidFill>
            <a:srgbClr val="B8A0C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5486400" cy="5486400"/>
          </a:xfrm>
          <a:prstGeom prst="ellipse">
            <a:avLst/>
          </a:prstGeom>
          <a:solidFill>
            <a:srgbClr val="88B8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572000"/>
            <a:ext cx="5943600" cy="5943600"/>
          </a:xfrm>
          <a:prstGeom prst="ellipse">
            <a:avLst/>
          </a:prstGeom>
          <a:solidFill>
            <a:srgbClr val="C8A880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4114800"/>
            <a:ext cx="5943600" cy="5943600"/>
          </a:xfrm>
          <a:prstGeom prst="ellipse">
            <a:avLst/>
          </a:prstGeom>
          <a:solidFill>
            <a:srgbClr val="90B8B8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57600" y="1828800"/>
            <a:ext cx="4572000" cy="4572000"/>
          </a:xfrm>
          <a:prstGeom prst="ellipse">
            <a:avLst/>
          </a:prstGeom>
          <a:solidFill>
            <a:srgbClr val="B8B880">
              <a:alpha val="1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6720840"/>
            <a:ext cx="2031949" cy="54864"/>
          </a:xfrm>
          <a:prstGeom prst="rect">
            <a:avLst/>
          </a:prstGeom>
          <a:solidFill>
            <a:srgbClr val="B8A0C8">
              <a:alpha val="8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031949" y="6720840"/>
            <a:ext cx="2031949" cy="54864"/>
          </a:xfrm>
          <a:prstGeom prst="rect">
            <a:avLst/>
          </a:prstGeom>
          <a:solidFill>
            <a:srgbClr val="C0A0B8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063898" y="6720840"/>
            <a:ext cx="2031949" cy="54864"/>
          </a:xfrm>
          <a:prstGeom prst="rect">
            <a:avLst/>
          </a:prstGeom>
          <a:solidFill>
            <a:srgbClr val="88B8B0">
              <a:alpha val="8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095848" y="6720840"/>
            <a:ext cx="2031949" cy="54864"/>
          </a:xfrm>
          <a:prstGeom prst="rect">
            <a:avLst/>
          </a:prstGeom>
          <a:solidFill>
            <a:srgbClr val="90B8B8">
              <a:alpha val="8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127797" y="6720840"/>
            <a:ext cx="2031949" cy="54864"/>
          </a:xfrm>
          <a:prstGeom prst="rect">
            <a:avLst/>
          </a:prstGeom>
          <a:solidFill>
            <a:srgbClr val="B8B880">
              <a:alpha val="8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159746" y="6720840"/>
            <a:ext cx="2031949" cy="54864"/>
          </a:xfrm>
          <a:prstGeom prst="rect">
            <a:avLst/>
          </a:prstGeom>
          <a:solidFill>
            <a:srgbClr val="C8A880">
              <a:alpha val="80000"/>
            </a:srgbClr>
          </a:solidFill>
          <a:ln/>
        </p:spPr>
      </p:sp>
      <p:pic>
        <p:nvPicPr>
          <p:cNvPr id="14" name="Image 0" descr="/home/claude/nexflow_portal/assets/logo_mark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473952"/>
            <a:ext cx="228600" cy="2286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4008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NexFlow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31520" y="365760"/>
            <a:ext cx="2286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B8A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18" name="Text 15"/>
          <p:cNvSpPr/>
          <p:nvPr/>
        </p:nvSpPr>
        <p:spPr>
          <a:xfrm>
            <a:off x="2377440" y="1828800"/>
            <a:ext cx="9144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i="1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NexFlow turned three weeks of manual prospect research into a single afternoon.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i="1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wealth estimation confidence levels are what finally made this work for my team.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2377440" y="4389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[ Client Name ]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237744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Title ], [ Firm ]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943600" cy="5943600"/>
          </a:xfrm>
          <a:prstGeom prst="ellipse">
            <a:avLst/>
          </a:prstGeom>
          <a:solidFill>
            <a:srgbClr val="B8A0C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5486400" cy="5486400"/>
          </a:xfrm>
          <a:prstGeom prst="ellipse">
            <a:avLst/>
          </a:prstGeom>
          <a:solidFill>
            <a:srgbClr val="88B8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572000"/>
            <a:ext cx="5943600" cy="5943600"/>
          </a:xfrm>
          <a:prstGeom prst="ellipse">
            <a:avLst/>
          </a:prstGeom>
          <a:solidFill>
            <a:srgbClr val="C8A880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4114800"/>
            <a:ext cx="5943600" cy="5943600"/>
          </a:xfrm>
          <a:prstGeom prst="ellipse">
            <a:avLst/>
          </a:prstGeom>
          <a:solidFill>
            <a:srgbClr val="90B8B8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57600" y="1828800"/>
            <a:ext cx="4572000" cy="4572000"/>
          </a:xfrm>
          <a:prstGeom prst="ellipse">
            <a:avLst/>
          </a:prstGeom>
          <a:solidFill>
            <a:srgbClr val="B8B880">
              <a:alpha val="1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6720840"/>
            <a:ext cx="2031949" cy="54864"/>
          </a:xfrm>
          <a:prstGeom prst="rect">
            <a:avLst/>
          </a:prstGeom>
          <a:solidFill>
            <a:srgbClr val="B8A0C8">
              <a:alpha val="8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031949" y="6720840"/>
            <a:ext cx="2031949" cy="54864"/>
          </a:xfrm>
          <a:prstGeom prst="rect">
            <a:avLst/>
          </a:prstGeom>
          <a:solidFill>
            <a:srgbClr val="C0A0B8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063898" y="6720840"/>
            <a:ext cx="2031949" cy="54864"/>
          </a:xfrm>
          <a:prstGeom prst="rect">
            <a:avLst/>
          </a:prstGeom>
          <a:solidFill>
            <a:srgbClr val="88B8B0">
              <a:alpha val="8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095848" y="6720840"/>
            <a:ext cx="2031949" cy="54864"/>
          </a:xfrm>
          <a:prstGeom prst="rect">
            <a:avLst/>
          </a:prstGeom>
          <a:solidFill>
            <a:srgbClr val="90B8B8">
              <a:alpha val="8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127797" y="6720840"/>
            <a:ext cx="2031949" cy="54864"/>
          </a:xfrm>
          <a:prstGeom prst="rect">
            <a:avLst/>
          </a:prstGeom>
          <a:solidFill>
            <a:srgbClr val="B8B880">
              <a:alpha val="8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159746" y="6720840"/>
            <a:ext cx="2031949" cy="54864"/>
          </a:xfrm>
          <a:prstGeom prst="rect">
            <a:avLst/>
          </a:prstGeom>
          <a:solidFill>
            <a:srgbClr val="C8A880">
              <a:alpha val="80000"/>
            </a:srgbClr>
          </a:solidFill>
          <a:ln/>
        </p:spPr>
      </p:sp>
      <p:pic>
        <p:nvPicPr>
          <p:cNvPr id="14" name="Image 0" descr="/home/claude/nexflow_portal/assets/logo_mark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473952"/>
            <a:ext cx="228600" cy="2286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4008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NexFlow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Overview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8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NexFlow vs legacy alternatives for Saudi HNW prospecting.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411480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2286000"/>
                <a:gridCol w="2194560"/>
              </a:tblGrid>
              <a:tr h="5878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Research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CRM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NexFlow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A0C8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4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CMA/TASI monitoring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8D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8D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B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4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Bilingual AR/EN support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8D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8D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B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F6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4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Wealth estimation confidence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8D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8D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B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4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SAMA/SIMAH/OFAC screening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8D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8D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B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F6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4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Family-tree exclusion logic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8D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8D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B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4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 transaction alerts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8D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8D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B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943600" cy="5943600"/>
          </a:xfrm>
          <a:prstGeom prst="ellipse">
            <a:avLst/>
          </a:prstGeom>
          <a:solidFill>
            <a:srgbClr val="B8A0C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5486400" cy="5486400"/>
          </a:xfrm>
          <a:prstGeom prst="ellipse">
            <a:avLst/>
          </a:prstGeom>
          <a:solidFill>
            <a:srgbClr val="88B8B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572000"/>
            <a:ext cx="5943600" cy="5943600"/>
          </a:xfrm>
          <a:prstGeom prst="ellipse">
            <a:avLst/>
          </a:prstGeom>
          <a:solidFill>
            <a:srgbClr val="C8A880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4114800"/>
            <a:ext cx="5943600" cy="5943600"/>
          </a:xfrm>
          <a:prstGeom prst="ellipse">
            <a:avLst/>
          </a:prstGeom>
          <a:solidFill>
            <a:srgbClr val="90B8B8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57600" y="1828800"/>
            <a:ext cx="4572000" cy="4572000"/>
          </a:xfrm>
          <a:prstGeom prst="ellipse">
            <a:avLst/>
          </a:prstGeom>
          <a:solidFill>
            <a:srgbClr val="B8B880">
              <a:alpha val="1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</p:sp>
      <p:pic>
        <p:nvPicPr>
          <p:cNvPr id="8" name="Image 0" descr="/home/claude/nexflow_portal/assets/logo_mark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48" y="1371600"/>
            <a:ext cx="914400" cy="914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0" y="2468880"/>
            <a:ext cx="121916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10" name="Text 7"/>
          <p:cNvSpPr/>
          <p:nvPr/>
        </p:nvSpPr>
        <p:spPr>
          <a:xfrm>
            <a:off x="0" y="36576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9A8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orchestrate something clear.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sara@nexflow.sa     ·     +966 XX XXX XXXX     ·     nexflow.sa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0" y="5349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8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Riyadh, Saudi Arabia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0" y="6720840"/>
            <a:ext cx="2031949" cy="137160"/>
          </a:xfrm>
          <a:prstGeom prst="rect">
            <a:avLst/>
          </a:prstGeom>
          <a:solidFill>
            <a:srgbClr val="B8A0C8">
              <a:alpha val="85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2031949" y="6720840"/>
            <a:ext cx="2031949" cy="137160"/>
          </a:xfrm>
          <a:prstGeom prst="rect">
            <a:avLst/>
          </a:prstGeom>
          <a:solidFill>
            <a:srgbClr val="C0A0B8">
              <a:alpha val="85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063898" y="6720840"/>
            <a:ext cx="2031949" cy="137160"/>
          </a:xfrm>
          <a:prstGeom prst="rect">
            <a:avLst/>
          </a:prstGeom>
          <a:solidFill>
            <a:srgbClr val="88B8B0">
              <a:alpha val="85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6095848" y="6720840"/>
            <a:ext cx="2031949" cy="137160"/>
          </a:xfrm>
          <a:prstGeom prst="rect">
            <a:avLst/>
          </a:prstGeom>
          <a:solidFill>
            <a:srgbClr val="90B8B8">
              <a:alpha val="85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8127797" y="6720840"/>
            <a:ext cx="2031949" cy="137160"/>
          </a:xfrm>
          <a:prstGeom prst="rect">
            <a:avLst/>
          </a:prstGeom>
          <a:solidFill>
            <a:srgbClr val="B8B880">
              <a:alpha val="85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10159746" y="6720840"/>
            <a:ext cx="2031949" cy="137160"/>
          </a:xfrm>
          <a:prstGeom prst="rect">
            <a:avLst/>
          </a:prstGeom>
          <a:solidFill>
            <a:srgbClr val="C8A880">
              <a:alpha val="85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NexFlow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NexFlow Presentation Template</dc:title>
  <dc:subject>PptxGenJS Presentation</dc:subject>
  <dc:creator>PptxGenJS</dc:creator>
  <cp:lastModifiedBy>PptxGenJS</cp:lastModifiedBy>
  <cp:revision>1</cp:revision>
  <dcterms:created xsi:type="dcterms:W3CDTF">2026-04-22T23:22:23Z</dcterms:created>
  <dcterms:modified xsi:type="dcterms:W3CDTF">2026-04-22T23:22:23Z</dcterms:modified>
</cp:coreProperties>
</file>